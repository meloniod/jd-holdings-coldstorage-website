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</ns0:sldIdLst>
  <ns0:sldSz cx="12192000" cy="6858000" type="screen4x3"/>
  <ns0:notesSz cx="6858000" cy="9144000"/>
  <ns0:embeddedFontLst>
    <ns0:embeddedFont>
      <ns0:font typeface="Plus Jakarta Sans"/>
      <ns0:italic ns1:id="rIdFont20"/>
      <ns0:bold ns1:id="rIdFont21"/>
      <ns0:regular ns1:id="rIdFont22"/>
    </ns0:embeddedFont>
    <ns0:embeddedFont>
      <ns0:font typeface="Space Grotesk"/>
      <ns0:bold ns1:id="rIdFont23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Font20" Type="http://schemas.openxmlformats.org/officeDocument/2006/relationships/font" Target="fonts/a1bb2234-e8ae-4774-8289-5ca64ab9b390.fntdata" /><ns0:Relationship Id="rIdFont21" Type="http://schemas.openxmlformats.org/officeDocument/2006/relationships/font" Target="fonts/8e810b7c-984f-4143-9d07-a273799a39d4.fntdata" /><ns0:Relationship Id="rIdFont22" Type="http://schemas.openxmlformats.org/officeDocument/2006/relationships/font" Target="fonts/e09f9e0c-2562-4714-b6e2-fbd96d3cffe4.fntdata" /><ns0:Relationship Id="rIdFont23" Type="http://schemas.openxmlformats.org/officeDocument/2006/relationships/font" Target="fonts/c1842186-ee2a-4c99-807f-d6c31a127769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349055"/>
            <a:ext cx="8572500" cy="1019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349055"/>
            <a:ext cx="85725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489769"/>
            <a:ext cx="10715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Space Grotesk"/>
              </a:rPr>
              <a:t>INVESTOR PRESENTATION &amp; STRATEGIC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737419"/>
            <a:ext cx="9101137" cy="118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657"/>
              </a:lnSpc>
            </a:pPr>
            <a:r>
              <a:rPr b="1" sz="4050" i="0" u="none">
                <a:solidFill>
                  <a:srgbClr val="FFFFFF"/>
                </a:solidFill>
                <a:latin typeface="Space Grotesk"/>
              </a:rPr>
              <a:t>Pure B2B Mortuary Cold Storage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110805"/>
            <a:ext cx="73342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Establishing South Africa's premier 400-bed high-capacity B2B cold storage network. Eliminating client conflict, securing recurring revenue and capturing key industrial corridors.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625280"/>
            <a:ext cx="213121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CAPITAL 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834830"/>
            <a:ext cx="2131218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38BDF8"/>
                </a:solidFill>
                <a:latin typeface="Plus Jakarta Sans"/>
              </a:rPr>
              <a:t>R4,500,000.00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5575" y="4625280"/>
            <a:ext cx="390673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5575" y="4834830"/>
            <a:ext cx="322064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Plus Jakarta Sans"/>
              </a:rPr>
              <a:t>Senior Secured Facility @ 18% p.a.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1965" y="4625280"/>
            <a:ext cx="372516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LEADERSHIP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1965" y="4834830"/>
            <a:ext cx="3075384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Plus Jakarta Sans"/>
              </a:rPr>
              <a:t>Rebaone Dandashe &amp; Kaya Jajula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456729"/>
            <a:ext cx="5334000" cy="1548407"/>
          </a:xfrm>
          <a:prstGeom prst="roundRect">
            <a:avLst>
              <a:gd name="adj" fmla="val 738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195637"/>
            <a:ext cx="5334000" cy="1548407"/>
          </a:xfrm>
          <a:prstGeom prst="roundRect">
            <a:avLst>
              <a:gd name="adj" fmla="val 738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934545"/>
            <a:ext cx="5334000" cy="1308496"/>
          </a:xfrm>
          <a:prstGeom prst="roundRect">
            <a:avLst>
              <a:gd name="adj" fmla="val 873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2995612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1456729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1456729"/>
            <a:ext cx="38100" cy="1548407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34075" y="1456729"/>
            <a:ext cx="9525" cy="154840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4734520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3195637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3195637"/>
            <a:ext cx="38100" cy="1548407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34075" y="3195637"/>
            <a:ext cx="9525" cy="154840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9600" y="6233517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600" y="4934545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600" y="4934545"/>
            <a:ext cx="38100" cy="130849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34075" y="4934545"/>
            <a:ext cx="9525" cy="130849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1299120"/>
            <a:ext cx="5334000" cy="5101679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1718667"/>
            <a:ext cx="238125" cy="1905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3457575"/>
            <a:ext cx="238125" cy="1905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5196482"/>
            <a:ext cx="190500" cy="1905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EXECUTIVE SUMMARY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Space Grotesk"/>
              </a:rPr>
              <a:t>The Pure B2B Infrastructure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9675" y="1694854"/>
            <a:ext cx="5988248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Zero Client Competition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6300" y="2047279"/>
            <a:ext cx="4924425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Strictly zero B2C retail operations. We do not sell caskets, policies, or family services. We serve independent funeral undertakers as trusted partners.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9675" y="3433762"/>
            <a:ext cx="5988248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High-Capacity Infrastructure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6300" y="3786187"/>
            <a:ext cx="4924425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400 stainless steel trays per facility. Maintained at a 65% utilization ratio (260 active beds) with a 35% emergency buffer for surge capacity.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2050" y="5172670"/>
            <a:ext cx="6038254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High-Margin Recurring Unit Economics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6300" y="5525095"/>
            <a:ext cx="4924425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R2,400 intake fee with R350 direct COGS yields an 85.42% gross margin (R2,050 gross profit per intake).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50926"/>
            <a:ext cx="3505200" cy="2397918"/>
          </a:xfrm>
          <a:prstGeom prst="roundRect">
            <a:avLst>
              <a:gd name="adj" fmla="val 476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650926"/>
            <a:ext cx="3505200" cy="2397918"/>
          </a:xfrm>
          <a:prstGeom prst="roundRect">
            <a:avLst>
              <a:gd name="adj" fmla="val 476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650926"/>
            <a:ext cx="3505200" cy="2397918"/>
          </a:xfrm>
          <a:prstGeom prst="roundRect">
            <a:avLst>
              <a:gd name="adj" fmla="val 476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889051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525" y="2889051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325" y="2889051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" y="3012876"/>
            <a:ext cx="209550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1062" y="3012876"/>
            <a:ext cx="238125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9150" y="3012876"/>
            <a:ext cx="20955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MARKET OPPORTUNITY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Space Grotesk"/>
              </a:rPr>
              <a:t>Solving Infrastructure Bottlenecks in Funeral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498651"/>
            <a:ext cx="3975496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Capital Constraints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3851076"/>
            <a:ext cx="3124200" cy="959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Independent undertakers lack CapEx for compliant cold rooms, forcing reliance on expensive, predatory sub-leases.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525" y="3498651"/>
            <a:ext cx="3975496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Regulatory Enforcement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525" y="3851076"/>
            <a:ext cx="3124200" cy="959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Strict Department of Health CoC enforcement is shutting down non-compliant storage units across Gauteng.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5325" y="3498651"/>
            <a:ext cx="3876675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The Neutral 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5325" y="3851076"/>
            <a:ext cx="3124200" cy="959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Jadan Holdings provides certified, neutral infrastructure where undertakers store client remains safely without poaching fears.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230635"/>
            <a:ext cx="6400800" cy="323850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0" y="2283023"/>
            <a:ext cx="4267200" cy="1533525"/>
          </a:xfrm>
          <a:prstGeom prst="roundRect">
            <a:avLst>
              <a:gd name="adj" fmla="val 7453"/>
            </a:avLst>
          </a:prstGeom>
          <a:solidFill>
            <a:srgbClr val="0F172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0" y="3968948"/>
            <a:ext cx="4267200" cy="1447800"/>
          </a:xfrm>
          <a:prstGeom prst="roundRect">
            <a:avLst>
              <a:gd name="adj" fmla="val 78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09625" y="2430660"/>
          <a:ext cx="6000749" cy="283845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797498"/>
                <a:gridCol w="2203251"/>
              </a:tblGrid>
              <a:tr h="405492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Category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20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Allocation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5492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Leasehold &amp; Facility Fit-out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R850,000.00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5492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AfriChill Equipment Deposits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R550,000.00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5492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Working Capital Buffer (M1–M5)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R1,600,000.00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5492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Licensing, CoC &amp; Compliance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R400,000.00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5492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Unforeseen Contingency (24%)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R1,100,000.00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5498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TOTAL CAPITAL REQUEST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200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R4,500,000.00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9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FUNDING ALLOCATION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Space Grotesk"/>
              </a:rPr>
              <a:t>R4.5M Upfront Setup &amp; Working Capital Schedule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53325" y="2521148"/>
            <a:ext cx="46386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OPTION B DEBT TERMS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53325" y="2768798"/>
            <a:ext cx="4638675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FFFFF"/>
                </a:solidFill>
                <a:latin typeface="Plus Jakarta Sans"/>
              </a:rPr>
              <a:t>18.0% Fixed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53325" y="3178373"/>
            <a:ext cx="38862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Plus Jakarta Sans"/>
              </a:rPr>
              <a:t>6-Month Grace Period (Months 1–5 principal moratorium during operational ramp-up).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53325" y="4207073"/>
            <a:ext cx="46386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DEBT SERVICE RUN-RATE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53325" y="4435673"/>
            <a:ext cx="46386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R224,658.46 / 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53325" y="4778573"/>
            <a:ext cx="38862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24 equal installments (Months 6–29). Total repayment: R5,391,803.04.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282380"/>
            <a:ext cx="10972800" cy="1308496"/>
          </a:xfrm>
          <a:prstGeom prst="roundRect">
            <a:avLst>
              <a:gd name="adj" fmla="val 8735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109043"/>
            <a:ext cx="3505200" cy="1944737"/>
          </a:xfrm>
          <a:prstGeom prst="roundRect">
            <a:avLst>
              <a:gd name="adj" fmla="val 587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2109043"/>
            <a:ext cx="3505200" cy="1944737"/>
          </a:xfrm>
          <a:prstGeom prst="roundRect">
            <a:avLst>
              <a:gd name="adj" fmla="val 587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109043"/>
            <a:ext cx="3505200" cy="1944737"/>
          </a:xfrm>
          <a:prstGeom prst="roundRect">
            <a:avLst>
              <a:gd name="adj" fmla="val 587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4544317"/>
            <a:ext cx="219075" cy="190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SITE &amp; INFRASTRUCTURE PROVISION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Space Grotesk"/>
              </a:rPr>
              <a:t>Flexible Property Provisioning &amp; Utility Assurance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2050" y="4520505"/>
            <a:ext cx="11029950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369A1"/>
                </a:solidFill>
                <a:latin typeface="Plus Jakarta Sans"/>
              </a:rPr>
              <a:t>Plug-and-Play Site Standard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4872930"/>
            <a:ext cx="105918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0C4A6E"/>
                </a:solidFill>
                <a:latin typeface="Plus Jakarta Sans"/>
              </a:rPr>
              <a:t>Every targeted site must feature 3-phase industrial power (min 150 kVA), dedicated sluice drainage access and secure drive-through loading bays for logistics vehicles.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2347168"/>
            <a:ext cx="3786187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R160k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2861518"/>
            <a:ext cx="3786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Plus Jakarta Sans"/>
              </a:rPr>
              <a:t>Monthly Rental Provision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175843"/>
            <a:ext cx="3124200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Dedicated lease budget for 1,500m²+ GLA light industrial venue across Joburg North / Midrand corridors.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525" y="2347168"/>
            <a:ext cx="3786187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600" i="0" u="none">
                <a:solidFill>
                  <a:srgbClr val="0284C7"/>
                </a:solidFill>
                <a:latin typeface="Space Grotesk"/>
              </a:rPr>
              <a:t>R112k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525" y="2861518"/>
            <a:ext cx="3786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Plus Jakarta Sans"/>
              </a:rPr>
              <a:t>Monthly Utility Provision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525" y="3175843"/>
            <a:ext cx="3124200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Fully factored into base OpEx: Electricity (R75k), Potable Water (R19.3k), Trade Effluent (R17.7k).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5325" y="2347168"/>
            <a:ext cx="3786187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600" i="0" u="none">
                <a:solidFill>
                  <a:srgbClr val="059669"/>
                </a:solidFill>
                <a:latin typeface="Space Grotesk"/>
              </a:rPr>
              <a:t>5 Sites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5325" y="2861518"/>
            <a:ext cx="3786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Plus Jakarta Sans"/>
              </a:rPr>
              <a:t>Active Corridor 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5325" y="3175843"/>
            <a:ext cx="3124200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Active property screening in Kya Sands, Corporate Park North/South, Lanseria, and Chartwell.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34075" y="2583060"/>
            <a:ext cx="5648325" cy="2533650"/>
          </a:xfrm>
          <a:prstGeom prst="roundRect">
            <a:avLst>
              <a:gd name="adj" fmla="val 45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696640"/>
            <a:ext cx="5019675" cy="1308496"/>
          </a:xfrm>
          <a:prstGeom prst="roundRect">
            <a:avLst>
              <a:gd name="adj" fmla="val 873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195637"/>
            <a:ext cx="5019675" cy="1308496"/>
          </a:xfrm>
          <a:prstGeom prst="roundRect">
            <a:avLst>
              <a:gd name="adj" fmla="val 873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694634"/>
            <a:ext cx="5019675" cy="1308496"/>
          </a:xfrm>
          <a:prstGeom prst="roundRect">
            <a:avLst>
              <a:gd name="adj" fmla="val 873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3368873"/>
            <a:ext cx="19050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3778448"/>
            <a:ext cx="19050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4188023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4597598"/>
            <a:ext cx="19050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1958578"/>
            <a:ext cx="17145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3457575"/>
            <a:ext cx="142875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4956571"/>
            <a:ext cx="238125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EQUIPMENT PROCUREMENT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Space Grotesk"/>
              </a:rPr>
              <a:t>AfriChill Rent-to-Own Commercial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8400" y="2897385"/>
            <a:ext cx="59436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Auxiliary Preparation Facilities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4425" y="1934765"/>
            <a:ext cx="5683210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Modular 400-Tray Setup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2287190"/>
            <a:ext cx="4638675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Grade 304 stainless steel trays, 100-bay 4-tier racking, 100mm PU insulation paneling (~250 m² floor space).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5850" y="3433762"/>
            <a:ext cx="5713214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Tax-Efficient Leasing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" y="3786187"/>
            <a:ext cx="4638675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R98,600.00 / month 60-month commercial lease-to-own agreement. 100% tax deductible under SARS OpEx.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1100" y="4932759"/>
            <a:ext cx="5613201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Redundant Cooling Plants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25" y="5285184"/>
            <a:ext cx="4638675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Multiplexed commercial refrigeration plants ensure continuous 2°C to 4°C cooling during maintenance.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91300" y="3354585"/>
            <a:ext cx="441721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Mercurial hydraulic embalming &amp; prep tables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91300" y="3764160"/>
            <a:ext cx="42743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YSENMED motorized electric corpse lifters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91300" y="4173735"/>
            <a:ext cx="56007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Heavy-duty sluice traps &amp; biohazard drainage interceptors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91300" y="4583310"/>
            <a:ext cx="441721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Commercial biohazard waste collection SLA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721298"/>
            <a:ext cx="10972800" cy="1971675"/>
          </a:xfrm>
          <a:prstGeom prst="roundRect">
            <a:avLst>
              <a:gd name="adj" fmla="val 579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006798"/>
            <a:ext cx="3505200" cy="1447800"/>
          </a:xfrm>
          <a:prstGeom prst="roundRect">
            <a:avLst>
              <a:gd name="adj" fmla="val 7894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2006798"/>
            <a:ext cx="3505200" cy="1447800"/>
          </a:xfrm>
          <a:prstGeom prst="roundRect">
            <a:avLst>
              <a:gd name="adj" fmla="val 7894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006798"/>
            <a:ext cx="3505200" cy="1447800"/>
          </a:xfrm>
          <a:prstGeom prst="roundRect">
            <a:avLst>
              <a:gd name="adj" fmla="val 7894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983235"/>
            <a:ext cx="142875" cy="190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FINANCIAL FUNDAMENTALS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Space Grotesk"/>
              </a:rPr>
              <a:t>Core Unit Economics &amp; Monthly Base OpEx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850" y="3959423"/>
            <a:ext cx="11106150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Monthly Base Operating Expense Breakdown (Hub 1 Standalone)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2302073"/>
            <a:ext cx="3786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369A1"/>
                </a:solidFill>
                <a:latin typeface="Plus Jakarta Sans"/>
              </a:rPr>
              <a:t>B2B Intake Fee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2502098"/>
            <a:ext cx="3786187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600" i="0" u="none">
                <a:solidFill>
                  <a:srgbClr val="0284C7"/>
                </a:solidFill>
                <a:latin typeface="Space Grotesk"/>
              </a:rPr>
              <a:t>R2,400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035498"/>
            <a:ext cx="37861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0C4A6E"/>
                </a:solidFill>
                <a:latin typeface="Plus Jakarta Sans"/>
              </a:rPr>
              <a:t>Standard per-body intake charge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525" y="2302073"/>
            <a:ext cx="3786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91B1B"/>
                </a:solidFill>
                <a:latin typeface="Plus Jakarta Sans"/>
              </a:rPr>
              <a:t>Direct COGS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525" y="2502098"/>
            <a:ext cx="3786187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600" i="0" u="none">
                <a:solidFill>
                  <a:srgbClr val="DC2626"/>
                </a:solidFill>
                <a:latin typeface="Space Grotesk"/>
              </a:rPr>
              <a:t>R350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525" y="3035498"/>
            <a:ext cx="37861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7F1D1D"/>
                </a:solidFill>
                <a:latin typeface="Plus Jakarta Sans"/>
              </a:rPr>
              <a:t>Sanitation, shroud &amp; direct consumables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5325" y="2302073"/>
            <a:ext cx="3786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66534"/>
                </a:solidFill>
                <a:latin typeface="Plus Jakarta Sans"/>
              </a:rPr>
              <a:t>Gross Profit Margin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5325" y="2502098"/>
            <a:ext cx="3786187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600" i="0" u="none">
                <a:solidFill>
                  <a:srgbClr val="16A34A"/>
                </a:solidFill>
                <a:latin typeface="Space Grotesk"/>
              </a:rPr>
              <a:t>85.4%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5325" y="3035498"/>
            <a:ext cx="37861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14532D"/>
                </a:solidFill>
                <a:latin typeface="Plus Jakarta Sans"/>
              </a:rPr>
              <a:t>R2,050 gross profit generated per intake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" y="4349948"/>
            <a:ext cx="424643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Rent Provision:</a:t>
            </a:r>
            <a:r>
              <a:rPr b="0" sz="1200" i="0" u="none">
                <a:solidFill>
                  <a:srgbClr val="0F172A"/>
                </a:solidFill>
                <a:latin typeface="Plus Jakarta Sans"/>
              </a:rPr>
              <a:t> R160,000.00 / 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97275" y="4349948"/>
            <a:ext cx="424662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Industrial Electricity:</a:t>
            </a:r>
            <a:r>
              <a:rPr b="0" sz="1200" i="0" u="none">
                <a:solidFill>
                  <a:srgbClr val="0F172A"/>
                </a:solidFill>
                <a:latin typeface="Plus Jakarta Sans"/>
              </a:rPr>
              <a:t> R75,000.00 / 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46975" y="4349948"/>
            <a:ext cx="424502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Potable Water Supply:</a:t>
            </a:r>
            <a:r>
              <a:rPr b="0" sz="1200" i="0" u="none">
                <a:solidFill>
                  <a:srgbClr val="0F172A"/>
                </a:solidFill>
                <a:latin typeface="Plus Jakarta Sans"/>
              </a:rPr>
              <a:t> R19,290.00 / 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725" y="4702373"/>
            <a:ext cx="424643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Sewerage &amp; Effluent:</a:t>
            </a:r>
            <a:r>
              <a:rPr b="0" sz="1200" i="0" u="none">
                <a:solidFill>
                  <a:srgbClr val="0F172A"/>
                </a:solidFill>
                <a:latin typeface="Plus Jakarta Sans"/>
              </a:rPr>
              <a:t> R17,700.00 / 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7275" y="4702373"/>
            <a:ext cx="424662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Rates, Levies &amp; Security:</a:t>
            </a:r>
            <a:r>
              <a:rPr b="0" sz="1200" i="0" u="none">
                <a:solidFill>
                  <a:srgbClr val="0F172A"/>
                </a:solidFill>
                <a:latin typeface="Plus Jakarta Sans"/>
              </a:rPr>
              <a:t> R22,000.00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46975" y="4702373"/>
            <a:ext cx="424502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Biohazard Disposal:</a:t>
            </a:r>
            <a:r>
              <a:rPr b="0" sz="1200" i="0" u="none">
                <a:solidFill>
                  <a:srgbClr val="0F172A"/>
                </a:solidFill>
                <a:latin typeface="Plus Jakarta Sans"/>
              </a:rPr>
              <a:t> R18,500.00 / 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725" y="5054798"/>
            <a:ext cx="34924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Facility Maintenance &amp; Ins:</a:t>
            </a:r>
            <a:r>
              <a:rPr b="0" sz="1200" i="0" u="none">
                <a:solidFill>
                  <a:srgbClr val="0F172A"/>
                </a:solidFill>
                <a:latin typeface="Plus Jakarta Sans"/>
              </a:rPr>
              <a:t> R21,316.45 / 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97275" y="5054798"/>
            <a:ext cx="349254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Direct Local Payroll (10 staff):</a:t>
            </a:r>
            <a:r>
              <a:rPr b="0" sz="1200" i="0" u="none">
                <a:solidFill>
                  <a:srgbClr val="0F172A"/>
                </a:solidFill>
                <a:latin typeface="Plus Jakarta Sans"/>
              </a:rPr>
              <a:t> R132,000.00 / 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46975" y="5054798"/>
            <a:ext cx="34924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Plus Jakarta Sans"/>
              </a:rPr>
              <a:t>TOTAL BASE OPEX: R465,806.45 / mo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25960"/>
            <a:ext cx="1874490" cy="1847850"/>
          </a:xfrm>
          <a:prstGeom prst="roundRect">
            <a:avLst>
              <a:gd name="adj" fmla="val 61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884140" y="2925960"/>
            <a:ext cx="1874490" cy="1847850"/>
          </a:xfrm>
          <a:prstGeom prst="roundRect">
            <a:avLst>
              <a:gd name="adj" fmla="val 61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158680" y="2925960"/>
            <a:ext cx="1874490" cy="1847850"/>
          </a:xfrm>
          <a:prstGeom prst="roundRect">
            <a:avLst>
              <a:gd name="adj" fmla="val 61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33220" y="2925960"/>
            <a:ext cx="1874490" cy="1847850"/>
          </a:xfrm>
          <a:prstGeom prst="roundRect">
            <a:avLst>
              <a:gd name="adj" fmla="val 61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707760" y="2925960"/>
            <a:ext cx="1874490" cy="1847850"/>
          </a:xfrm>
          <a:prstGeom prst="roundRect">
            <a:avLst>
              <a:gd name="adj" fmla="val 6185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6490" y="3773685"/>
            <a:ext cx="9525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1030" y="3773685"/>
            <a:ext cx="9525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5570" y="3773685"/>
            <a:ext cx="9525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0110" y="3773685"/>
            <a:ext cx="95250" cy="152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EXECUTION ROADMAP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Space Grotesk"/>
              </a:rPr>
              <a:t>Regulatory, Licensing &amp; Compliance 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3125985"/>
            <a:ext cx="18430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PHASE 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3373635"/>
            <a:ext cx="193520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Lease &amp; Layout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625" y="3668910"/>
            <a:ext cx="1569690" cy="904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Sign lease agreement and submit architectural floor plans to City of Joburg Health.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4165" y="3125985"/>
            <a:ext cx="18430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PHASE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4165" y="3373635"/>
            <a:ext cx="193520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Public Notice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4165" y="3668910"/>
            <a:ext cx="1569690" cy="904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Publish statutory 21-day newspaper notice of intention to operate funeral facility.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58705" y="3125985"/>
            <a:ext cx="18430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PHASE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58705" y="3373635"/>
            <a:ext cx="193520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Fit-out Build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705" y="3668910"/>
            <a:ext cx="1569690" cy="904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Install AfriChill cold rooms, biohazard sluice bays and effluent interceptor traps.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3245" y="3125985"/>
            <a:ext cx="18430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PHASE 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3245" y="3373635"/>
            <a:ext cx="193520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CoC Inspection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3245" y="3668910"/>
            <a:ext cx="1569690" cy="904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Municipal Health inspection for Certificate of Competence issuance.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07785" y="3125985"/>
            <a:ext cx="18430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Plus Jakarta Sans"/>
              </a:rPr>
              <a:t>PHASE 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07785" y="3373635"/>
            <a:ext cx="193520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4532D"/>
                </a:solidFill>
                <a:latin typeface="Plus Jakarta Sans"/>
              </a:rPr>
              <a:t>Launch SLA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07785" y="3668910"/>
            <a:ext cx="1569690" cy="904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166534"/>
                </a:solidFill>
                <a:latin typeface="Plus Jakarta Sans"/>
              </a:rPr>
              <a:t>Finalize medical waste collection contract and initiate B2B intake operations.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655266"/>
            <a:ext cx="5391150" cy="1743075"/>
          </a:xfrm>
          <a:prstGeom prst="roundRect">
            <a:avLst>
              <a:gd name="adj" fmla="val 6557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91250" y="1426666"/>
            <a:ext cx="5391150" cy="2200275"/>
          </a:xfrm>
          <a:prstGeom prst="roundRect">
            <a:avLst>
              <a:gd name="adj" fmla="val 5194"/>
            </a:avLst>
          </a:prstGeom>
          <a:solidFill>
            <a:srgbClr val="FFFBE6"/>
          </a:solidFill>
          <a:ln w="9525">
            <a:solidFill>
              <a:srgbClr val="FFE5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072830"/>
            <a:ext cx="5391150" cy="2200275"/>
          </a:xfrm>
          <a:prstGeom prst="roundRect">
            <a:avLst>
              <a:gd name="adj" fmla="val 5194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0" y="4072830"/>
            <a:ext cx="5391150" cy="2200275"/>
          </a:xfrm>
          <a:prstGeom prst="roundRect">
            <a:avLst>
              <a:gd name="adj" fmla="val 5194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1917203"/>
            <a:ext cx="19050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75" y="1688603"/>
            <a:ext cx="19050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4334767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75" y="4334767"/>
            <a:ext cx="171450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STRATEGIC EVALUATION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Space Grotesk"/>
              </a:rPr>
              <a:t>Comprehensive SWOT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475" y="1893391"/>
            <a:ext cx="6150768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369A1"/>
                </a:solidFill>
                <a:latin typeface="Plus Jakarta Sans"/>
              </a:rPr>
              <a:t>STRENGTHS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15125" y="1664791"/>
            <a:ext cx="5476875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WEAKNESSES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475" y="4310955"/>
            <a:ext cx="6150768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15803D"/>
                </a:solidFill>
                <a:latin typeface="Plus Jakarta Sans"/>
              </a:rPr>
              <a:t>OPPORTUNITIES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6075" y="4310955"/>
            <a:ext cx="5495925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B91C1C"/>
                </a:solidFill>
                <a:latin typeface="Plus Jakarta Sans"/>
              </a:rPr>
              <a:t>THREATS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500" y="2245816"/>
            <a:ext cx="857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C4A6E"/>
                </a:solidFill>
                <a:latin typeface="Plus Jakarta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225" y="2245816"/>
            <a:ext cx="5905500" cy="22860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C4A6E"/>
                </a:solidFill>
                <a:latin typeface="Plus Jakarta Sans"/>
              </a:rPr>
              <a:t>Pure B2B Model:</a:t>
            </a:r>
            <a:r>
              <a:rPr b="0" sz="1200" i="0" u="none">
                <a:solidFill>
                  <a:srgbClr val="0C4A6E"/>
                </a:solidFill>
                <a:latin typeface="Plus Jakarta Sans"/>
              </a:rPr>
              <a:t> Zero retail competition with funeral parlours.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500" y="2474416"/>
            <a:ext cx="857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C4A6E"/>
                </a:solidFill>
                <a:latin typeface="Plus Jakarta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8225" y="2474416"/>
            <a:ext cx="5905500" cy="22860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C4A6E"/>
                </a:solidFill>
                <a:latin typeface="Plus Jakarta Sans"/>
              </a:rPr>
              <a:t>High Margin:</a:t>
            </a:r>
            <a:r>
              <a:rPr b="0" sz="1200" i="0" u="none">
                <a:solidFill>
                  <a:srgbClr val="0C4A6E"/>
                </a:solidFill>
                <a:latin typeface="Plus Jakarta Sans"/>
              </a:rPr>
              <a:t> 85.4% gross profit per intake (R2,050 net margin).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500" y="2703016"/>
            <a:ext cx="857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C4A6E"/>
                </a:solidFill>
                <a:latin typeface="Plus Jakarta San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8225" y="2703016"/>
            <a:ext cx="4819650" cy="4572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C4A6E"/>
                </a:solidFill>
                <a:latin typeface="Plus Jakarta Sans"/>
              </a:rPr>
              <a:t>Tax Efficiency:</a:t>
            </a:r>
            <a:r>
              <a:rPr b="0" sz="1200" i="0" u="none">
                <a:solidFill>
                  <a:srgbClr val="0C4A6E"/>
                </a:solidFill>
                <a:latin typeface="Plus Jakarta Sans"/>
              </a:rPr>
              <a:t> AfriChill rent-to-own structure is 100% OpEx deductible.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4150" y="2017216"/>
            <a:ext cx="857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14700"/>
                </a:solidFill>
                <a:latin typeface="Plus Jakarta San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9875" y="2017216"/>
            <a:ext cx="4819650" cy="4572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614700"/>
                </a:solidFill>
                <a:latin typeface="Plus Jakarta Sans"/>
              </a:rPr>
              <a:t>Capital Dependency:</a:t>
            </a:r>
            <a:r>
              <a:rPr b="0" sz="1200" i="0" u="none">
                <a:solidFill>
                  <a:srgbClr val="614700"/>
                </a:solidFill>
                <a:latin typeface="Plus Jakarta Sans"/>
              </a:rPr>
              <a:t> Requires R4.5M upfront third-party capital setup.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4150" y="2474416"/>
            <a:ext cx="857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14700"/>
                </a:solidFill>
                <a:latin typeface="Plus Jakarta San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19875" y="2474416"/>
            <a:ext cx="4819650" cy="4572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614700"/>
                </a:solidFill>
                <a:latin typeface="Plus Jakarta Sans"/>
              </a:rPr>
              <a:t>Lease Transition:</a:t>
            </a:r>
            <a:r>
              <a:rPr b="0" sz="1200" i="0" u="none">
                <a:solidFill>
                  <a:srgbClr val="614700"/>
                </a:solidFill>
                <a:latin typeface="Plus Jakarta Sans"/>
              </a:rPr>
              <a:t> Ongoing site screening requires lease execution.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4150" y="2931616"/>
            <a:ext cx="857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14700"/>
                </a:solidFill>
                <a:latin typeface="Plus Jakarta Sans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19875" y="2931616"/>
            <a:ext cx="4819650" cy="4572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614700"/>
                </a:solidFill>
                <a:latin typeface="Plus Jakarta Sans"/>
              </a:rPr>
              <a:t>Initial Ramp-up:</a:t>
            </a:r>
            <a:r>
              <a:rPr b="0" sz="1200" i="0" u="none">
                <a:solidFill>
                  <a:srgbClr val="614700"/>
                </a:solidFill>
                <a:latin typeface="Plus Jakarta Sans"/>
              </a:rPr>
              <a:t> 5-month operational buffer needed before cash break-even.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2500" y="4663380"/>
            <a:ext cx="857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4532D"/>
                </a:solidFill>
                <a:latin typeface="Plus Jakarta Sans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8225" y="4663380"/>
            <a:ext cx="4819650" cy="4572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14532D"/>
                </a:solidFill>
                <a:latin typeface="Plus Jakarta Sans"/>
              </a:rPr>
              <a:t>Undertaker Surge:</a:t>
            </a:r>
            <a:r>
              <a:rPr b="0" sz="1200" i="0" u="none">
                <a:solidFill>
                  <a:srgbClr val="14532D"/>
                </a:solidFill>
                <a:latin typeface="Plus Jakarta Sans"/>
              </a:rPr>
              <a:t> Capturing township undertakers lacking cold rooms.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2500" y="5120580"/>
            <a:ext cx="857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4532D"/>
                </a:solidFill>
                <a:latin typeface="Plus Jakarta Sans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8225" y="5120580"/>
            <a:ext cx="4819650" cy="4572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14532D"/>
                </a:solidFill>
                <a:latin typeface="Plus Jakarta Sans"/>
              </a:rPr>
              <a:t>Institutional Contracts:</a:t>
            </a:r>
            <a:r>
              <a:rPr b="0" sz="1200" i="0" u="none">
                <a:solidFill>
                  <a:srgbClr val="14532D"/>
                </a:solidFill>
                <a:latin typeface="Plus Jakarta Sans"/>
              </a:rPr>
              <a:t> Securing hospital removal &amp; government SLAs.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2500" y="5577780"/>
            <a:ext cx="857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4532D"/>
                </a:solidFill>
                <a:latin typeface="Plus Jakarta Sans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8225" y="5577780"/>
            <a:ext cx="4819650" cy="4572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14532D"/>
                </a:solidFill>
                <a:latin typeface="Plus Jakarta Sans"/>
              </a:rPr>
              <a:t>Corridor Expansion:</a:t>
            </a:r>
            <a:r>
              <a:rPr b="0" sz="1200" i="0" u="none">
                <a:solidFill>
                  <a:srgbClr val="14532D"/>
                </a:solidFill>
                <a:latin typeface="Plus Jakarta Sans"/>
              </a:rPr>
              <a:t> Replicating Hub model across major provincial nodes.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4150" y="4663380"/>
            <a:ext cx="857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7F1D1D"/>
                </a:solidFill>
                <a:latin typeface="Plus Jakarta Sans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19875" y="4663380"/>
            <a:ext cx="4819650" cy="4572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7F1D1D"/>
                </a:solidFill>
                <a:latin typeface="Plus Jakarta Sans"/>
              </a:rPr>
              <a:t>Grid Instability:</a:t>
            </a:r>
            <a:r>
              <a:rPr b="0" sz="1200" i="0" u="none">
                <a:solidFill>
                  <a:srgbClr val="7F1D1D"/>
                </a:solidFill>
                <a:latin typeface="Plus Jakarta Sans"/>
              </a:rPr>
              <a:t> Load shedding risks (mitigated by backup generators).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4150" y="5120580"/>
            <a:ext cx="857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7F1D1D"/>
                </a:solidFill>
                <a:latin typeface="Plus Jakarta Sans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19875" y="5120580"/>
            <a:ext cx="4819650" cy="4572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7F1D1D"/>
                </a:solidFill>
                <a:latin typeface="Plus Jakarta Sans"/>
              </a:rPr>
              <a:t>Licensing Delays:</a:t>
            </a:r>
            <a:r>
              <a:rPr b="0" sz="1200" i="0" u="none">
                <a:solidFill>
                  <a:srgbClr val="7F1D1D"/>
                </a:solidFill>
                <a:latin typeface="Plus Jakarta Sans"/>
              </a:rPr>
              <a:t> Municipal CoC approval delays (mitigated by pre-audit).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4150" y="5577780"/>
            <a:ext cx="857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7F1D1D"/>
                </a:solidFill>
                <a:latin typeface="Plus Jakarta Sans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19875" y="5577780"/>
            <a:ext cx="4819650" cy="4572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7F1D1D"/>
                </a:solidFill>
                <a:latin typeface="Plus Jakarta Sans"/>
              </a:rPr>
              <a:t>Water Outages:</a:t>
            </a:r>
            <a:r>
              <a:rPr b="0" sz="1200" i="0" u="none">
                <a:solidFill>
                  <a:srgbClr val="7F1D1D"/>
                </a:solidFill>
                <a:latin typeface="Plus Jakarta Sans"/>
              </a:rPr>
              <a:t> Municipal supply interruptions (mitigated by water storage).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621160"/>
            <a:ext cx="24568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66454" y="2621160"/>
            <a:ext cx="13637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30166" y="2621160"/>
            <a:ext cx="139496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825132" y="2621160"/>
            <a:ext cx="14781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03293" y="2621160"/>
            <a:ext cx="13845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7841" y="2621160"/>
            <a:ext cx="13845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72389" y="2621160"/>
            <a:ext cx="15100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3021210"/>
            <a:ext cx="24568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66454" y="3021210"/>
            <a:ext cx="13637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0166" y="3021210"/>
            <a:ext cx="139496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25132" y="3021210"/>
            <a:ext cx="14781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03293" y="3021210"/>
            <a:ext cx="13845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7841" y="3021210"/>
            <a:ext cx="13845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072389" y="3021210"/>
            <a:ext cx="15100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600" y="3421260"/>
            <a:ext cx="24568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066454" y="3421260"/>
            <a:ext cx="13637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30166" y="3421260"/>
            <a:ext cx="139496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25132" y="3421260"/>
            <a:ext cx="14781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03293" y="3421260"/>
            <a:ext cx="13845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7841" y="3421260"/>
            <a:ext cx="13845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072389" y="3421260"/>
            <a:ext cx="15100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600" y="3821310"/>
            <a:ext cx="24568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66454" y="3821310"/>
            <a:ext cx="13637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30166" y="3821310"/>
            <a:ext cx="139496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25132" y="3821310"/>
            <a:ext cx="14781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03293" y="3821310"/>
            <a:ext cx="13845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687841" y="3821310"/>
            <a:ext cx="13845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072389" y="3821310"/>
            <a:ext cx="15100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9600" y="4221360"/>
            <a:ext cx="24568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066454" y="4221360"/>
            <a:ext cx="13637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30166" y="4221360"/>
            <a:ext cx="139496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825132" y="4221360"/>
            <a:ext cx="14781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03293" y="4221360"/>
            <a:ext cx="13845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687841" y="4221360"/>
            <a:ext cx="13845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072389" y="4221360"/>
            <a:ext cx="15100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9600" y="4621410"/>
            <a:ext cx="24568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066454" y="4621410"/>
            <a:ext cx="13637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430166" y="4621410"/>
            <a:ext cx="139496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825132" y="4621410"/>
            <a:ext cx="14781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03293" y="4621410"/>
            <a:ext cx="13845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687841" y="4621410"/>
            <a:ext cx="13845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072389" y="4621410"/>
            <a:ext cx="15100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9600" y="5021460"/>
            <a:ext cx="24568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066454" y="5021460"/>
            <a:ext cx="13637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430166" y="5021460"/>
            <a:ext cx="139496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825132" y="5021460"/>
            <a:ext cx="14781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303293" y="5021460"/>
            <a:ext cx="13845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687841" y="5021460"/>
            <a:ext cx="13845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072389" y="5021460"/>
            <a:ext cx="15100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09600" y="5421510"/>
            <a:ext cx="24568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066454" y="5421510"/>
            <a:ext cx="13637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430166" y="5421510"/>
            <a:ext cx="139496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825132" y="5421510"/>
            <a:ext cx="14781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303293" y="5421510"/>
            <a:ext cx="13845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687841" y="5421510"/>
            <a:ext cx="13845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072389" y="5421510"/>
            <a:ext cx="15100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09600" y="5821560"/>
            <a:ext cx="24568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066454" y="5821560"/>
            <a:ext cx="13637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430166" y="5821560"/>
            <a:ext cx="139496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825132" y="5821560"/>
            <a:ext cx="14781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303293" y="5821560"/>
            <a:ext cx="13845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687841" y="5821560"/>
            <a:ext cx="13845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072389" y="5821560"/>
            <a:ext cx="15100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5" name="Table 64"/>
          <p:cNvGraphicFramePr>
            <a:graphicFrameLocks noGrp="1"/>
          </p:cNvGraphicFramePr>
          <p:nvPr/>
        </p:nvGraphicFramePr>
        <p:xfrm>
          <a:off x="609600" y="1863923"/>
          <a:ext cx="10972798" cy="397192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456854"/>
                <a:gridCol w="1363712"/>
                <a:gridCol w="1394966"/>
                <a:gridCol w="1478160"/>
                <a:gridCol w="1384548"/>
                <a:gridCol w="1384548"/>
                <a:gridCol w="1510010"/>
              </a:tblGrid>
              <a:tr h="397192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Financial Metric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125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Year 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125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Year 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125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Year 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125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Year 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125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Year 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125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5-Year Total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397192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Intake Volume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7,510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18,720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18,720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18,720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18,720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82,390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7192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Gross Group Revenue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R18,024,000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R44,928,000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R44,928,000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R44,928,000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R44,928,000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R197,736,000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7192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Direct COGS (@ R350)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R2,628,500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R6,552,000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R6,552,000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R6,552,000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R6,552,000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R28,836,500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7192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Gross Profit (85.4%)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R15,395,500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R38,376,000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R38,376,000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R38,376,000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R38,376,000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R168,899,500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97192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Base OpEx (Rent + Utilities)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R5,589,677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R5,589,677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R5,589,677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R5,589,677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R5,589,677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R27,948,387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7192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AfriChill Lease + Exec Sal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R2,143,200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R2,623,200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R2,623,200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R2,623,200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R2,623,200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R12,636,000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7192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Net EBITDA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200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+R7,662,623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200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+R30,163,123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200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+R30,163,123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200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+R30,163,123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200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+R30,163,123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200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+R128,315,113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9FF"/>
                    </a:solidFill>
                  </a:tcPr>
                </a:tc>
              </a:tr>
              <a:tr h="397192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Option B Debt Service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R1,572,609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R2,695,902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R1,123,292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R5,391,803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7197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Net Free Cash Flow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200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+R6,090,013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200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+R27,467,221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200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+R29,039,830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200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+R30,163,123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200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+R30,163,123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200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+R122,923,310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F2FE"/>
                    </a:solidFill>
                  </a:tcPr>
                </a:tc>
              </a:tr>
            </a:tbl>
          </a:graphicData>
        </a:graphic>
      </p:graphicFrame>
      <p:sp>
        <p:nvSpPr>
          <p:cNvPr id="66" name="TextBox 6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FINANCIAL PERFORMANCE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Space Grotesk"/>
              </a:rPr>
              <a:t>Consolidated Standalone 5-Year Financial Summary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743075"/>
            <a:ext cx="5372100" cy="1548407"/>
          </a:xfrm>
          <a:prstGeom prst="roundRect">
            <a:avLst>
              <a:gd name="adj" fmla="val 73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1863030"/>
            <a:ext cx="5372100" cy="1308496"/>
          </a:xfrm>
          <a:prstGeom prst="roundRect">
            <a:avLst>
              <a:gd name="adj" fmla="val 873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408289"/>
            <a:ext cx="5372100" cy="1548407"/>
          </a:xfrm>
          <a:prstGeom prst="roundRect">
            <a:avLst>
              <a:gd name="adj" fmla="val 73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4528244"/>
            <a:ext cx="5372100" cy="1308496"/>
          </a:xfrm>
          <a:prstGeom prst="roundRect">
            <a:avLst>
              <a:gd name="adj" fmla="val 873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005012"/>
            <a:ext cx="238125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25" y="2124967"/>
            <a:ext cx="19050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4670226"/>
            <a:ext cx="17145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8425" y="4790182"/>
            <a:ext cx="219075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RISK GOVERNANCE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Space Grotesk"/>
              </a:rPr>
              <a:t>Comprehensive Risk Mitigation Framework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1100" y="1981200"/>
            <a:ext cx="6075759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Premises Acquisition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2333625"/>
            <a:ext cx="499110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475569"/>
                </a:solidFill>
                <a:latin typeface="Plus Jakarta Sans"/>
              </a:rPr>
              <a:t>Mitigation:</a:t>
            </a:r>
            <a:r>
              <a:rPr b="0" sz="1350" i="0" u="none">
                <a:solidFill>
                  <a:srgbClr val="475569"/>
                </a:solidFill>
                <a:latin typeface="Plus Jakarta Sans"/>
              </a:rPr>
              <a:t> R160,000/mo provision allows immediate lease execution across 5 pre-screened Joburg North industrial parks upon funding approval.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34175" y="2101155"/>
            <a:ext cx="5457825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Debt Service Protection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8425" y="2453580"/>
            <a:ext cx="49911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475569"/>
                </a:solidFill>
                <a:latin typeface="Plus Jakarta Sans"/>
              </a:rPr>
              <a:t>Mitigation:</a:t>
            </a:r>
            <a:r>
              <a:rPr b="0" sz="1350" i="0" u="none">
                <a:solidFill>
                  <a:srgbClr val="475569"/>
                </a:solidFill>
                <a:latin typeface="Plus Jakarta Sans"/>
              </a:rPr>
              <a:t> Month 6 EBITDA (+R216k) covers loan repayments immediately, scaling to &gt;4.3x DSCR by Month 8.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4425" y="4646414"/>
            <a:ext cx="6145768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Utility Continuity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4998839"/>
            <a:ext cx="499110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475569"/>
                </a:solidFill>
                <a:latin typeface="Plus Jakarta Sans"/>
              </a:rPr>
              <a:t>Mitigation:</a:t>
            </a:r>
            <a:r>
              <a:rPr b="0" sz="1350" i="0" u="none">
                <a:solidFill>
                  <a:srgbClr val="475569"/>
                </a:solidFill>
                <a:latin typeface="Plus Jakarta Sans"/>
              </a:rPr>
              <a:t> 30,000 kWh electricity provision includes automatic switchover diesel backup generator + 10,000L water tanks.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2750" y="4766369"/>
            <a:ext cx="5429250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Ramp-up Liquidity Shield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8425" y="5118794"/>
            <a:ext cx="49911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475569"/>
                </a:solidFill>
                <a:latin typeface="Plus Jakarta Sans"/>
              </a:rPr>
              <a:t>Mitigation:</a:t>
            </a:r>
            <a:r>
              <a:rPr b="0" sz="1350" i="0" u="none">
                <a:solidFill>
                  <a:srgbClr val="475569"/>
                </a:solidFill>
                <a:latin typeface="Plus Jakarta Sans"/>
              </a:rPr>
              <a:t> R1.6M working capital reserve covers 5 full months of operational OpEx prior to cash break-even.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835747"/>
            <a:ext cx="8572500" cy="1712416"/>
          </a:xfrm>
          <a:prstGeom prst="roundRect">
            <a:avLst>
              <a:gd name="adj" fmla="val 667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1309836"/>
            <a:ext cx="10715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Space Grotesk"/>
              </a:rPr>
              <a:t>INVESTMENT SUMMARY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557486"/>
            <a:ext cx="9101137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FFFFFF"/>
                </a:solidFill>
                <a:latin typeface="Space Grotesk"/>
              </a:rPr>
              <a:t>Partnering to Infrastructure Leadership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883247"/>
            <a:ext cx="8667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Jadan Holdings is positioned to capture high-margin infrastructure revenue in South Africa's mortuary sector. We invite senior debt and equity partners to participate in this funding round.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4150072"/>
            <a:ext cx="501312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Plus Jakarta Sans"/>
              </a:rPr>
              <a:t>Founding Leadership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4502497"/>
            <a:ext cx="3914775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CBD5E1"/>
                </a:solidFill>
                <a:latin typeface="Plus Jakarta Sans"/>
              </a:rPr>
              <a:t>Rebaone Dandashe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— Co-Executive Director</a:t>
            </a:r>
            <a:r>
              <a:t>
</a:t>
            </a:r>
            <a:r>
              <a:rPr b="1" sz="1200" i="0" u="none">
                <a:solidFill>
                  <a:srgbClr val="CBD5E1"/>
                </a:solidFill>
                <a:latin typeface="Plus Jakarta Sans"/>
              </a:rPr>
              <a:t>Kaya Jajula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— Co-Executive Director</a:t>
            </a:r>
            <a:r>
              <a:t>
</a:t>
            </a:r>
            <a:r>
              <a:rPr b="0" sz="1200" i="1" u="none">
                <a:solidFill>
                  <a:srgbClr val="CBD5E1"/>
                </a:solidFill>
                <a:latin typeface="Plus Jakarta Sans"/>
              </a:rPr>
              <a:t>Jadan Holdings (Pty)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48250" y="4150072"/>
            <a:ext cx="501312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Plus Jakarta Sans"/>
              </a:rPr>
              <a:t>Investment Opportunity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8250" y="4502497"/>
            <a:ext cx="3914775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CBD5E1"/>
                </a:solidFill>
                <a:latin typeface="Plus Jakarta Sans"/>
              </a:rPr>
              <a:t>Facility Size: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R4,500,000.00 Senior Debt</a:t>
            </a:r>
            <a:r>
              <a:t>
</a:t>
            </a:r>
            <a:r>
              <a:rPr b="1" sz="1200" i="0" u="none">
                <a:solidFill>
                  <a:srgbClr val="CBD5E1"/>
                </a:solidFill>
                <a:latin typeface="Plus Jakarta Sans"/>
              </a:rPr>
              <a:t>Fixed Coupon: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18.0% p.a. (24-mo amortization)</a:t>
            </a:r>
            <a:r>
              <a:t>
</a:t>
            </a:r>
            <a:r>
              <a:rPr b="1" sz="1200" i="0" u="none">
                <a:solidFill>
                  <a:srgbClr val="CBD5E1"/>
                </a:solidFill>
                <a:latin typeface="Plus Jakarta Sans"/>
              </a:rPr>
              <a:t>Net 5-Year Cash Flow: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+R122,923,309.96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308645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2812851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Space Grotesk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1346745"/>
            <a:ext cx="796528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Plus Jakarta Sans"/>
              </a:rPr>
              <a:t>https://standard-tech.it/wp-content/uploads/2025/09/Cold-storage-refrigeration-plant-1024x768.webp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1546770"/>
            <a:ext cx="2238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standard-tech.it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